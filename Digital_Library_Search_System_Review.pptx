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284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klh_logo.jpeg"/>
          <p:cNvPicPr>
            <a:picLocks noChangeAspect="1"/>
          </p:cNvPicPr>
          <p:nvPr/>
        </p:nvPicPr>
        <p:blipFill>
          <a:blip r:embed="rId3"/>
          <a:stretch>
            <a:fillRect/>
          </a:stretch>
        </p:blipFill>
        <p:spPr>
          <a:xfrm>
            <a:off x="10835640" y="274320"/>
            <a:ext cx="1005840" cy="438912"/>
          </a:xfrm>
          <a:prstGeom prst="rect">
            <a:avLst/>
          </a:prstGeom>
        </p:spPr>
      </p:pic>
      <p:sp>
        <p:nvSpPr>
          <p:cNvPr id="3" name="Text 0"/>
          <p:cNvSpPr/>
          <p:nvPr/>
        </p:nvSpPr>
        <p:spPr>
          <a:xfrm>
            <a:off x="731520" y="2377440"/>
            <a:ext cx="10515600" cy="1005840"/>
          </a:xfrm>
          <a:prstGeom prst="rect">
            <a:avLst/>
          </a:prstGeom>
          <a:noFill/>
          <a:ln/>
        </p:spPr>
        <p:txBody>
          <a:bodyPr wrap="square" rtlCol="0" anchor="ctr"/>
          <a:lstStyle/>
          <a:p>
            <a:pPr marL="0" indent="0" algn="ctr">
              <a:buNone/>
            </a:pPr>
            <a:r>
              <a:rPr lang="en-US" sz="4000" b="1" dirty="0">
                <a:solidFill>
                  <a:srgbClr val="1F2A44"/>
                </a:solidFill>
                <a:latin typeface="Calibri" pitchFamily="34" charset="0"/>
                <a:ea typeface="Calibri" pitchFamily="34" charset="-122"/>
                <a:cs typeface="Calibri" pitchFamily="34" charset="-120"/>
              </a:rPr>
              <a:t>Digital Library Search System</a:t>
            </a:r>
            <a:endParaRPr lang="en-US" sz="4000" dirty="0"/>
          </a:p>
        </p:txBody>
      </p:sp>
      <p:sp>
        <p:nvSpPr>
          <p:cNvPr id="4" name="Text 1"/>
          <p:cNvSpPr/>
          <p:nvPr/>
        </p:nvSpPr>
        <p:spPr>
          <a:xfrm>
            <a:off x="731520" y="3291840"/>
            <a:ext cx="10515600" cy="457200"/>
          </a:xfrm>
          <a:prstGeom prst="rect">
            <a:avLst/>
          </a:prstGeom>
          <a:noFill/>
          <a:ln/>
        </p:spPr>
        <p:txBody>
          <a:bodyPr wrap="square" rtlCol="0" anchor="ctr"/>
          <a:lstStyle/>
          <a:p>
            <a:pPr marL="0" indent="0" algn="ctr">
              <a:buNone/>
            </a:pPr>
            <a:r>
              <a:rPr lang="en-US" sz="1800" dirty="0">
                <a:solidFill>
                  <a:srgbClr val="555555"/>
                </a:solidFill>
                <a:latin typeface="Calibri" pitchFamily="34" charset="0"/>
                <a:ea typeface="Calibri" pitchFamily="34" charset="-122"/>
                <a:cs typeface="Calibri" pitchFamily="34" charset="-120"/>
              </a:rPr>
              <a:t>Data Structures and Algorithms - 3 (25CS2103E)</a:t>
            </a:r>
            <a:endParaRPr lang="en-US" sz="1800" dirty="0"/>
          </a:p>
        </p:txBody>
      </p:sp>
      <p:sp>
        <p:nvSpPr>
          <p:cNvPr id="5" name="Text 2"/>
          <p:cNvSpPr/>
          <p:nvPr/>
        </p:nvSpPr>
        <p:spPr>
          <a:xfrm>
            <a:off x="731520" y="3703320"/>
            <a:ext cx="10515600" cy="365760"/>
          </a:xfrm>
          <a:prstGeom prst="rect">
            <a:avLst/>
          </a:prstGeom>
          <a:noFill/>
          <a:ln/>
        </p:spPr>
        <p:txBody>
          <a:bodyPr wrap="square" rtlCol="0" anchor="ctr"/>
          <a:lstStyle/>
          <a:p>
            <a:pPr marL="0" indent="0" algn="ctr">
              <a:buNone/>
            </a:pPr>
            <a:r>
              <a:rPr lang="en-US" sz="1400" dirty="0">
                <a:solidFill>
                  <a:srgbClr val="555555"/>
                </a:solidFill>
                <a:latin typeface="Calibri" pitchFamily="34" charset="0"/>
                <a:ea typeface="Calibri" pitchFamily="34" charset="-122"/>
                <a:cs typeface="Calibri" pitchFamily="34" charset="-120"/>
              </a:rPr>
              <a:t>A.Y. 2026-2027</a:t>
            </a:r>
            <a:endParaRPr lang="en-US" sz="1400" dirty="0"/>
          </a:p>
        </p:txBody>
      </p:sp>
      <p:sp>
        <p:nvSpPr>
          <p:cNvPr id="6" name="Text 3"/>
          <p:cNvSpPr/>
          <p:nvPr/>
        </p:nvSpPr>
        <p:spPr>
          <a:xfrm>
            <a:off x="731520" y="4480560"/>
            <a:ext cx="10515600" cy="640080"/>
          </a:xfrm>
          <a:prstGeom prst="rect">
            <a:avLst/>
          </a:prstGeom>
          <a:noFill/>
          <a:ln/>
        </p:spPr>
        <p:txBody>
          <a:bodyPr wrap="square" rtlCol="0" anchor="ctr"/>
          <a:lstStyle/>
          <a:p>
            <a:pPr marL="0" indent="0" algn="ctr">
              <a:buNone/>
            </a:pPr>
            <a:r>
              <a:rPr lang="en-US" sz="1500" dirty="0">
                <a:solidFill>
                  <a:srgbClr val="222222"/>
                </a:solidFill>
                <a:latin typeface="Calibri" pitchFamily="34" charset="0"/>
                <a:ea typeface="Calibri" pitchFamily="34" charset="-122"/>
                <a:cs typeface="Calibri" pitchFamily="34" charset="-120"/>
              </a:rPr>
              <a:t>Tej Pratap Singh (2520030476)</a:t>
            </a:r>
            <a:endParaRPr lang="en-US" sz="1500" dirty="0"/>
          </a:p>
          <a:p>
            <a:pPr marL="0" indent="0" algn="ctr">
              <a:buNone/>
            </a:pPr>
            <a:r>
              <a:rPr lang="en-US" sz="1500" dirty="0">
                <a:solidFill>
                  <a:srgbClr val="222222"/>
                </a:solidFill>
                <a:latin typeface="Calibri" pitchFamily="34" charset="0"/>
                <a:ea typeface="Calibri" pitchFamily="34" charset="-122"/>
                <a:cs typeface="Calibri" pitchFamily="34" charset="-120"/>
              </a:rPr>
              <a:t>B. Aryan (2520030343)</a:t>
            </a:r>
            <a:endParaRPr lang="en-US" sz="1500" dirty="0"/>
          </a:p>
        </p:txBody>
      </p:sp>
      <p:sp>
        <p:nvSpPr>
          <p:cNvPr id="7" name="Text 4"/>
          <p:cNvSpPr/>
          <p:nvPr/>
        </p:nvSpPr>
        <p:spPr>
          <a:xfrm>
            <a:off x="731520" y="5212080"/>
            <a:ext cx="10515600" cy="365760"/>
          </a:xfrm>
          <a:prstGeom prst="rect">
            <a:avLst/>
          </a:prstGeom>
          <a:noFill/>
          <a:ln/>
        </p:spPr>
        <p:txBody>
          <a:bodyPr wrap="square" rtlCol="0" anchor="ctr"/>
          <a:lstStyle/>
          <a:p>
            <a:pPr marL="0" indent="0" algn="ctr">
              <a:buNone/>
            </a:pPr>
            <a:r>
              <a:rPr lang="en-US" sz="1400" i="1" dirty="0">
                <a:solidFill>
                  <a:srgbClr val="555555"/>
                </a:solidFill>
                <a:latin typeface="Calibri" pitchFamily="34" charset="0"/>
                <a:ea typeface="Calibri" pitchFamily="34" charset="-122"/>
                <a:cs typeface="Calibri" pitchFamily="34" charset="-120"/>
              </a:rPr>
              <a:t>Guide: Dr. V. Sireesha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klh_logo.jpeg"/>
          <p:cNvPicPr>
            <a:picLocks noChangeAspect="1"/>
          </p:cNvPicPr>
          <p:nvPr/>
        </p:nvPicPr>
        <p:blipFill>
          <a:blip r:embed="rId3"/>
          <a:stretch>
            <a:fillRect/>
          </a:stretch>
        </p:blipFill>
        <p:spPr>
          <a:xfrm>
            <a:off x="10835640" y="274320"/>
            <a:ext cx="1005840" cy="438912"/>
          </a:xfrm>
          <a:prstGeom prst="rect">
            <a:avLst/>
          </a:prstGeom>
        </p:spPr>
      </p:pic>
      <p:sp>
        <p:nvSpPr>
          <p:cNvPr id="3" name="Text 0"/>
          <p:cNvSpPr/>
          <p:nvPr/>
        </p:nvSpPr>
        <p:spPr>
          <a:xfrm>
            <a:off x="548640" y="365760"/>
            <a:ext cx="9601200" cy="64008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Abstract</a:t>
            </a:r>
            <a:endParaRPr lang="en-US" sz="3000" dirty="0"/>
          </a:p>
        </p:txBody>
      </p:sp>
      <p:sp>
        <p:nvSpPr>
          <p:cNvPr id="4" name="Text 1"/>
          <p:cNvSpPr/>
          <p:nvPr/>
        </p:nvSpPr>
        <p:spPr>
          <a:xfrm>
            <a:off x="548640" y="1143000"/>
            <a:ext cx="11064240" cy="4937760"/>
          </a:xfrm>
          <a:prstGeom prst="rect">
            <a:avLst/>
          </a:prstGeom>
          <a:noFill/>
          <a:ln/>
        </p:spPr>
        <p:txBody>
          <a:bodyPr wrap="square" rtlCol="0" anchor="t"/>
          <a:lstStyle/>
          <a:p>
            <a:pPr marL="0" indent="0">
              <a:lnSpc>
                <a:spcPct val="115000"/>
              </a:lnSpc>
              <a:buNone/>
            </a:pPr>
            <a:r>
              <a:rPr lang="en-US" sz="1600" dirty="0">
                <a:solidFill>
                  <a:srgbClr val="222222"/>
                </a:solidFill>
                <a:latin typeface="Calibri" pitchFamily="34" charset="0"/>
                <a:ea typeface="Calibri" pitchFamily="34" charset="-122"/>
                <a:cs typeface="Calibri" pitchFamily="34" charset="-120"/>
              </a:rPr>
              <a:t>The Digital Library Search System is developed to simplify the process of searching and retrieving digital library resources from a centralized repository. Libraries contain a vast collection of books, journals, magazines, and research papers, making manual searching time-consuming and inefficient.</a:t>
            </a:r>
            <a:endParaRPr lang="en-US" sz="1600" dirty="0"/>
          </a:p>
          <a:p>
            <a:pPr marL="0" indent="0">
              <a:lnSpc>
                <a:spcPct val="115000"/>
              </a:lnSpc>
              <a:buNone/>
            </a:pPr>
            <a:endParaRPr lang="en-US" sz="1600" dirty="0"/>
          </a:p>
          <a:p>
            <a:pPr marL="0" indent="0">
              <a:lnSpc>
                <a:spcPct val="115000"/>
              </a:lnSpc>
              <a:buNone/>
            </a:pPr>
            <a:r>
              <a:rPr lang="en-US" sz="1600" dirty="0">
                <a:solidFill>
                  <a:srgbClr val="222222"/>
                </a:solidFill>
                <a:latin typeface="Calibri" pitchFamily="34" charset="0"/>
                <a:ea typeface="Calibri" pitchFamily="34" charset="-122"/>
                <a:cs typeface="Calibri" pitchFamily="34" charset="-120"/>
              </a:rPr>
              <a:t>The proposed system enables users to search resources using multiple parameters such as title, author, ISBN, category, and keywords, ensuring quick and accurate retrieval of information. The project focuses on implementing efficient searching techniques and appropriate data structures to organize and access library records effectively.</a:t>
            </a:r>
            <a:endParaRPr lang="en-US" sz="1600" dirty="0"/>
          </a:p>
          <a:p>
            <a:pPr marL="0" indent="0">
              <a:lnSpc>
                <a:spcPct val="115000"/>
              </a:lnSpc>
              <a:buNone/>
            </a:pPr>
            <a:endParaRPr lang="en-US" sz="1600" dirty="0"/>
          </a:p>
          <a:p>
            <a:pPr marL="0" indent="0">
              <a:lnSpc>
                <a:spcPct val="115000"/>
              </a:lnSpc>
              <a:buNone/>
            </a:pPr>
            <a:r>
              <a:rPr lang="en-US" sz="1600" dirty="0">
                <a:solidFill>
                  <a:srgbClr val="222222"/>
                </a:solidFill>
                <a:latin typeface="Calibri" pitchFamily="34" charset="0"/>
                <a:ea typeface="Calibri" pitchFamily="34" charset="-122"/>
                <a:cs typeface="Calibri" pitchFamily="34" charset="-120"/>
              </a:rPr>
              <a:t>The initial version emphasizes basic search functionality while providing a scalable foundation for future enhancements, including intelligent search features similar to those used in modern digital libraries.</a:t>
            </a:r>
            <a:endParaRPr lang="en-US" sz="1600" dirty="0"/>
          </a:p>
        </p:txBody>
      </p:sp>
      <p:sp>
        <p:nvSpPr>
          <p:cNvPr id="5" name="Text 2"/>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Digital Library Search System  |  DSA-3</a:t>
            </a:r>
            <a:endParaRPr lang="en-US" sz="1000" dirty="0"/>
          </a:p>
        </p:txBody>
      </p:sp>
      <p:sp>
        <p:nvSpPr>
          <p:cNvPr id="6" name="Text 3"/>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8888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klh_logo.jpeg"/>
          <p:cNvPicPr>
            <a:picLocks noChangeAspect="1"/>
          </p:cNvPicPr>
          <p:nvPr/>
        </p:nvPicPr>
        <p:blipFill>
          <a:blip r:embed="rId3"/>
          <a:stretch>
            <a:fillRect/>
          </a:stretch>
        </p:blipFill>
        <p:spPr>
          <a:xfrm>
            <a:off x="10835640" y="274320"/>
            <a:ext cx="1005840" cy="438912"/>
          </a:xfrm>
          <a:prstGeom prst="rect">
            <a:avLst/>
          </a:prstGeom>
        </p:spPr>
      </p:pic>
      <p:sp>
        <p:nvSpPr>
          <p:cNvPr id="3" name="Text 0"/>
          <p:cNvSpPr/>
          <p:nvPr/>
        </p:nvSpPr>
        <p:spPr>
          <a:xfrm>
            <a:off x="548640" y="365760"/>
            <a:ext cx="9601200" cy="64008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Problem Statement</a:t>
            </a:r>
            <a:endParaRPr lang="en-US" sz="3000" dirty="0"/>
          </a:p>
        </p:txBody>
      </p:sp>
      <p:sp>
        <p:nvSpPr>
          <p:cNvPr id="4" name="Text 1"/>
          <p:cNvSpPr/>
          <p:nvPr/>
        </p:nvSpPr>
        <p:spPr>
          <a:xfrm>
            <a:off x="548640" y="1143000"/>
            <a:ext cx="11064240" cy="822960"/>
          </a:xfrm>
          <a:prstGeom prst="rect">
            <a:avLst/>
          </a:prstGeom>
          <a:noFill/>
          <a:ln/>
        </p:spPr>
        <p:txBody>
          <a:bodyPr wrap="square" rtlCol="0" anchor="t"/>
          <a:lstStyle/>
          <a:p>
            <a:pPr marL="0" indent="0">
              <a:buNone/>
            </a:pPr>
            <a:r>
              <a:rPr lang="en-US" sz="1600" dirty="0">
                <a:solidFill>
                  <a:srgbClr val="222222"/>
                </a:solidFill>
                <a:latin typeface="Calibri" pitchFamily="34" charset="0"/>
                <a:ea typeface="Calibri" pitchFamily="34" charset="-122"/>
                <a:cs typeface="Calibri" pitchFamily="34" charset="-120"/>
              </a:rPr>
              <a:t>Libraries contain thousands of books, journals, magazines, and research papers. Finding the required resource quickly becomes difficult when an efficient search system is not available.</a:t>
            </a:r>
            <a:endParaRPr lang="en-US" sz="1600" dirty="0"/>
          </a:p>
        </p:txBody>
      </p:sp>
      <p:sp>
        <p:nvSpPr>
          <p:cNvPr id="5" name="Text 2"/>
          <p:cNvSpPr/>
          <p:nvPr/>
        </p:nvSpPr>
        <p:spPr>
          <a:xfrm>
            <a:off x="548640" y="2148840"/>
            <a:ext cx="5486400" cy="365760"/>
          </a:xfrm>
          <a:prstGeom prst="rect">
            <a:avLst/>
          </a:prstGeom>
          <a:noFill/>
          <a:ln/>
        </p:spPr>
        <p:txBody>
          <a:bodyPr wrap="square" rtlCol="0" anchor="ctr"/>
          <a:lstStyle/>
          <a:p>
            <a:pPr marL="0" indent="0">
              <a:buNone/>
            </a:pPr>
            <a:r>
              <a:rPr lang="en-US" sz="1700" b="1" dirty="0">
                <a:solidFill>
                  <a:srgbClr val="1F2A44"/>
                </a:solidFill>
                <a:latin typeface="Calibri" pitchFamily="34" charset="0"/>
                <a:ea typeface="Calibri" pitchFamily="34" charset="-122"/>
                <a:cs typeface="Calibri" pitchFamily="34" charset="-120"/>
              </a:rPr>
              <a:t>Key Challenges</a:t>
            </a:r>
            <a:endParaRPr lang="en-US" sz="1700" dirty="0"/>
          </a:p>
        </p:txBody>
      </p:sp>
      <p:sp>
        <p:nvSpPr>
          <p:cNvPr id="6" name="Text 3"/>
          <p:cNvSpPr/>
          <p:nvPr/>
        </p:nvSpPr>
        <p:spPr>
          <a:xfrm>
            <a:off x="822960" y="2560320"/>
            <a:ext cx="10607040" cy="2011680"/>
          </a:xfrm>
          <a:prstGeom prst="rect">
            <a:avLst/>
          </a:prstGeom>
          <a:noFill/>
          <a:ln/>
        </p:spPr>
        <p:txBody>
          <a:bodyPr wrap="square" rtlCol="0" anchor="t"/>
          <a:lstStyle/>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Large volume of digital library resources</a:t>
            </a:r>
            <a:endParaRPr lang="en-US" sz="1500" dirty="0"/>
          </a:p>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Manual or basic searching can be slow and time-consuming</a:t>
            </a:r>
            <a:endParaRPr lang="en-US" sz="1500" dirty="0"/>
          </a:p>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Users need different ways to locate a resource</a:t>
            </a:r>
            <a:endParaRPr lang="en-US" sz="1500" dirty="0"/>
          </a:p>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Search results should be retrieved quickly and accurately</a:t>
            </a:r>
            <a:endParaRPr lang="en-US" sz="1500" dirty="0"/>
          </a:p>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The system should be capable of supporting improved search features in the future</a:t>
            </a:r>
            <a:endParaRPr lang="en-US" sz="1500" dirty="0"/>
          </a:p>
        </p:txBody>
      </p:sp>
      <p:sp>
        <p:nvSpPr>
          <p:cNvPr id="7" name="Shape 4"/>
          <p:cNvSpPr/>
          <p:nvPr/>
        </p:nvSpPr>
        <p:spPr>
          <a:xfrm>
            <a:off x="548640" y="4846320"/>
            <a:ext cx="11064240" cy="1234440"/>
          </a:xfrm>
          <a:prstGeom prst="rect">
            <a:avLst/>
          </a:prstGeom>
          <a:solidFill>
            <a:srgbClr val="F4F6F9"/>
          </a:solidFill>
          <a:ln w="12700">
            <a:solidFill>
              <a:srgbClr val="F4F6F9"/>
            </a:solidFill>
            <a:prstDash val="solid"/>
          </a:ln>
        </p:spPr>
      </p:sp>
      <p:sp>
        <p:nvSpPr>
          <p:cNvPr id="8" name="Text 5"/>
          <p:cNvSpPr/>
          <p:nvPr/>
        </p:nvSpPr>
        <p:spPr>
          <a:xfrm>
            <a:off x="777240" y="4983480"/>
            <a:ext cx="10607040" cy="960120"/>
          </a:xfrm>
          <a:prstGeom prst="rect">
            <a:avLst/>
          </a:prstGeom>
          <a:noFill/>
          <a:ln/>
        </p:spPr>
        <p:txBody>
          <a:bodyPr wrap="square" rtlCol="0" anchor="t"/>
          <a:lstStyle/>
          <a:p>
            <a:pPr marL="0" indent="0">
              <a:buNone/>
            </a:pPr>
            <a:r>
              <a:rPr lang="en-US" sz="1500" b="1" dirty="0">
                <a:solidFill>
                  <a:srgbClr val="8B1E1E"/>
                </a:solidFill>
                <a:latin typeface="Calibri" pitchFamily="34" charset="0"/>
                <a:ea typeface="Calibri" pitchFamily="34" charset="-122"/>
                <a:cs typeface="Calibri" pitchFamily="34" charset="-120"/>
              </a:rPr>
              <a:t>Proposed Solution:  </a:t>
            </a:r>
            <a:r>
              <a:rPr lang="en-US" sz="1500" dirty="0">
                <a:solidFill>
                  <a:srgbClr val="222222"/>
                </a:solidFill>
                <a:latin typeface="Calibri" pitchFamily="34" charset="0"/>
                <a:ea typeface="Calibri" pitchFamily="34" charset="-122"/>
                <a:cs typeface="Calibri" pitchFamily="34" charset="-120"/>
              </a:rPr>
              <a:t>Build a centralized digital library repository where users can search resources by title, author, ISBN, category, or keywords using efficient searching techniques.</a:t>
            </a:r>
            <a:endParaRPr lang="en-US" sz="1500" dirty="0"/>
          </a:p>
        </p:txBody>
      </p:sp>
      <p:sp>
        <p:nvSpPr>
          <p:cNvPr id="9" name="Text 6"/>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Digital Library Search System  |  DSA-3</a:t>
            </a:r>
            <a:endParaRPr lang="en-US" sz="1000" dirty="0"/>
          </a:p>
        </p:txBody>
      </p:sp>
      <p:sp>
        <p:nvSpPr>
          <p:cNvPr id="10" name="Text 7"/>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8888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klh_logo.jpeg"/>
          <p:cNvPicPr>
            <a:picLocks noChangeAspect="1"/>
          </p:cNvPicPr>
          <p:nvPr/>
        </p:nvPicPr>
        <p:blipFill>
          <a:blip r:embed="rId3"/>
          <a:stretch>
            <a:fillRect/>
          </a:stretch>
        </p:blipFill>
        <p:spPr>
          <a:xfrm>
            <a:off x="10835640" y="274320"/>
            <a:ext cx="1005840" cy="438912"/>
          </a:xfrm>
          <a:prstGeom prst="rect">
            <a:avLst/>
          </a:prstGeom>
        </p:spPr>
      </p:pic>
      <p:sp>
        <p:nvSpPr>
          <p:cNvPr id="3" name="Text 0"/>
          <p:cNvSpPr/>
          <p:nvPr/>
        </p:nvSpPr>
        <p:spPr>
          <a:xfrm>
            <a:off x="548640" y="365760"/>
            <a:ext cx="9601200" cy="64008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Proposed Functionalities</a:t>
            </a:r>
            <a:endParaRPr lang="en-US" sz="3000" dirty="0"/>
          </a:p>
        </p:txBody>
      </p:sp>
      <p:sp>
        <p:nvSpPr>
          <p:cNvPr id="4" name="Shape 1"/>
          <p:cNvSpPr/>
          <p:nvPr/>
        </p:nvSpPr>
        <p:spPr>
          <a:xfrm>
            <a:off x="548640" y="1188720"/>
            <a:ext cx="5349240" cy="1234440"/>
          </a:xfrm>
          <a:prstGeom prst="rect">
            <a:avLst/>
          </a:prstGeom>
          <a:solidFill>
            <a:srgbClr val="F4F6F9"/>
          </a:solidFill>
          <a:ln w="12700">
            <a:solidFill>
              <a:srgbClr val="F4F6F9"/>
            </a:solidFill>
            <a:prstDash val="solid"/>
          </a:ln>
        </p:spPr>
      </p:sp>
      <p:sp>
        <p:nvSpPr>
          <p:cNvPr id="5" name="Text 2"/>
          <p:cNvSpPr/>
          <p:nvPr/>
        </p:nvSpPr>
        <p:spPr>
          <a:xfrm>
            <a:off x="777240" y="1298448"/>
            <a:ext cx="4892040" cy="320040"/>
          </a:xfrm>
          <a:prstGeom prst="rect">
            <a:avLst/>
          </a:prstGeom>
          <a:noFill/>
          <a:ln/>
        </p:spPr>
        <p:txBody>
          <a:bodyPr wrap="square" rtlCol="0" anchor="ctr"/>
          <a:lstStyle/>
          <a:p>
            <a:pPr marL="0" indent="0">
              <a:buNone/>
            </a:pPr>
            <a:r>
              <a:rPr lang="en-US" sz="1500" b="1" dirty="0">
                <a:solidFill>
                  <a:srgbClr val="1F2A44"/>
                </a:solidFill>
                <a:latin typeface="Calibri" pitchFamily="34" charset="0"/>
                <a:ea typeface="Calibri" pitchFamily="34" charset="-122"/>
                <a:cs typeface="Calibri" pitchFamily="34" charset="-120"/>
              </a:rPr>
              <a:t>Digital Repository</a:t>
            </a:r>
            <a:endParaRPr lang="en-US" sz="1500" dirty="0"/>
          </a:p>
        </p:txBody>
      </p:sp>
      <p:sp>
        <p:nvSpPr>
          <p:cNvPr id="6" name="Text 3"/>
          <p:cNvSpPr/>
          <p:nvPr/>
        </p:nvSpPr>
        <p:spPr>
          <a:xfrm>
            <a:off x="777240" y="1645920"/>
            <a:ext cx="4892040" cy="731520"/>
          </a:xfrm>
          <a:prstGeom prst="rect">
            <a:avLst/>
          </a:prstGeom>
          <a:noFill/>
          <a:ln/>
        </p:spPr>
        <p:txBody>
          <a:bodyPr wrap="square" rtlCol="0" anchor="t"/>
          <a:lstStyle/>
          <a:p>
            <a:pPr marL="0" indent="0">
              <a:buNone/>
            </a:pPr>
            <a:r>
              <a:rPr lang="en-US" sz="1250" dirty="0">
                <a:solidFill>
                  <a:srgbClr val="222222"/>
                </a:solidFill>
                <a:latin typeface="Calibri" pitchFamily="34" charset="0"/>
                <a:ea typeface="Calibri" pitchFamily="34" charset="-122"/>
                <a:cs typeface="Calibri" pitchFamily="34" charset="-120"/>
              </a:rPr>
              <a:t>Store and organize books, journals, magazines, and research papers.</a:t>
            </a:r>
            <a:endParaRPr lang="en-US" sz="1250" dirty="0"/>
          </a:p>
        </p:txBody>
      </p:sp>
      <p:sp>
        <p:nvSpPr>
          <p:cNvPr id="7" name="Shape 4"/>
          <p:cNvSpPr/>
          <p:nvPr/>
        </p:nvSpPr>
        <p:spPr>
          <a:xfrm>
            <a:off x="6263640" y="1188720"/>
            <a:ext cx="5349240" cy="1234440"/>
          </a:xfrm>
          <a:prstGeom prst="rect">
            <a:avLst/>
          </a:prstGeom>
          <a:solidFill>
            <a:srgbClr val="F4F6F9"/>
          </a:solidFill>
          <a:ln w="12700">
            <a:solidFill>
              <a:srgbClr val="F4F6F9"/>
            </a:solidFill>
            <a:prstDash val="solid"/>
          </a:ln>
        </p:spPr>
      </p:sp>
      <p:sp>
        <p:nvSpPr>
          <p:cNvPr id="8" name="Text 5"/>
          <p:cNvSpPr/>
          <p:nvPr/>
        </p:nvSpPr>
        <p:spPr>
          <a:xfrm>
            <a:off x="6492240" y="1298448"/>
            <a:ext cx="4892040" cy="320040"/>
          </a:xfrm>
          <a:prstGeom prst="rect">
            <a:avLst/>
          </a:prstGeom>
          <a:noFill/>
          <a:ln/>
        </p:spPr>
        <p:txBody>
          <a:bodyPr wrap="square" rtlCol="0" anchor="ctr"/>
          <a:lstStyle/>
          <a:p>
            <a:pPr marL="0" indent="0">
              <a:buNone/>
            </a:pPr>
            <a:r>
              <a:rPr lang="en-US" sz="1500" b="1" dirty="0">
                <a:solidFill>
                  <a:srgbClr val="1F2A44"/>
                </a:solidFill>
                <a:latin typeface="Calibri" pitchFamily="34" charset="0"/>
                <a:ea typeface="Calibri" pitchFamily="34" charset="-122"/>
                <a:cs typeface="Calibri" pitchFamily="34" charset="-120"/>
              </a:rPr>
              <a:t>Multi-Parameter Search</a:t>
            </a:r>
            <a:endParaRPr lang="en-US" sz="1500" dirty="0"/>
          </a:p>
        </p:txBody>
      </p:sp>
      <p:sp>
        <p:nvSpPr>
          <p:cNvPr id="9" name="Text 6"/>
          <p:cNvSpPr/>
          <p:nvPr/>
        </p:nvSpPr>
        <p:spPr>
          <a:xfrm>
            <a:off x="6492240" y="1645920"/>
            <a:ext cx="4892040" cy="731520"/>
          </a:xfrm>
          <a:prstGeom prst="rect">
            <a:avLst/>
          </a:prstGeom>
          <a:noFill/>
          <a:ln/>
        </p:spPr>
        <p:txBody>
          <a:bodyPr wrap="square" rtlCol="0" anchor="t"/>
          <a:lstStyle/>
          <a:p>
            <a:pPr marL="0" indent="0">
              <a:buNone/>
            </a:pPr>
            <a:r>
              <a:rPr lang="en-US" sz="1250" dirty="0">
                <a:solidFill>
                  <a:srgbClr val="222222"/>
                </a:solidFill>
                <a:latin typeface="Calibri" pitchFamily="34" charset="0"/>
                <a:ea typeface="Calibri" pitchFamily="34" charset="-122"/>
                <a:cs typeface="Calibri" pitchFamily="34" charset="-120"/>
              </a:rPr>
              <a:t>Search using title, author, ISBN, category, and keywords.</a:t>
            </a:r>
            <a:endParaRPr lang="en-US" sz="1250" dirty="0"/>
          </a:p>
        </p:txBody>
      </p:sp>
      <p:sp>
        <p:nvSpPr>
          <p:cNvPr id="10" name="Shape 7"/>
          <p:cNvSpPr/>
          <p:nvPr/>
        </p:nvSpPr>
        <p:spPr>
          <a:xfrm>
            <a:off x="548640" y="2606040"/>
            <a:ext cx="5349240" cy="1234440"/>
          </a:xfrm>
          <a:prstGeom prst="rect">
            <a:avLst/>
          </a:prstGeom>
          <a:solidFill>
            <a:srgbClr val="F4F6F9"/>
          </a:solidFill>
          <a:ln w="12700">
            <a:solidFill>
              <a:srgbClr val="F4F6F9"/>
            </a:solidFill>
            <a:prstDash val="solid"/>
          </a:ln>
        </p:spPr>
      </p:sp>
      <p:sp>
        <p:nvSpPr>
          <p:cNvPr id="11" name="Text 8"/>
          <p:cNvSpPr/>
          <p:nvPr/>
        </p:nvSpPr>
        <p:spPr>
          <a:xfrm>
            <a:off x="777240" y="2715768"/>
            <a:ext cx="4892040" cy="320040"/>
          </a:xfrm>
          <a:prstGeom prst="rect">
            <a:avLst/>
          </a:prstGeom>
          <a:noFill/>
          <a:ln/>
        </p:spPr>
        <p:txBody>
          <a:bodyPr wrap="square" rtlCol="0" anchor="ctr"/>
          <a:lstStyle/>
          <a:p>
            <a:pPr marL="0" indent="0">
              <a:buNone/>
            </a:pPr>
            <a:r>
              <a:rPr lang="en-US" sz="1500" b="1" dirty="0">
                <a:solidFill>
                  <a:srgbClr val="1F2A44"/>
                </a:solidFill>
                <a:latin typeface="Calibri" pitchFamily="34" charset="0"/>
                <a:ea typeface="Calibri" pitchFamily="34" charset="-122"/>
                <a:cs typeface="Calibri" pitchFamily="34" charset="-120"/>
              </a:rPr>
              <a:t>Efficient Retrieval</a:t>
            </a:r>
            <a:endParaRPr lang="en-US" sz="1500" dirty="0"/>
          </a:p>
        </p:txBody>
      </p:sp>
      <p:sp>
        <p:nvSpPr>
          <p:cNvPr id="12" name="Text 9"/>
          <p:cNvSpPr/>
          <p:nvPr/>
        </p:nvSpPr>
        <p:spPr>
          <a:xfrm>
            <a:off x="777240" y="3063240"/>
            <a:ext cx="4892040" cy="731520"/>
          </a:xfrm>
          <a:prstGeom prst="rect">
            <a:avLst/>
          </a:prstGeom>
          <a:noFill/>
          <a:ln/>
        </p:spPr>
        <p:txBody>
          <a:bodyPr wrap="square" rtlCol="0" anchor="t"/>
          <a:lstStyle/>
          <a:p>
            <a:pPr marL="0" indent="0">
              <a:buNone/>
            </a:pPr>
            <a:r>
              <a:rPr lang="en-US" sz="1250" dirty="0">
                <a:solidFill>
                  <a:srgbClr val="222222"/>
                </a:solidFill>
                <a:latin typeface="Calibri" pitchFamily="34" charset="0"/>
                <a:ea typeface="Calibri" pitchFamily="34" charset="-122"/>
                <a:cs typeface="Calibri" pitchFamily="34" charset="-120"/>
              </a:rPr>
              <a:t>Return matching records quickly using suitable data structures and searching techniques.</a:t>
            </a:r>
            <a:endParaRPr lang="en-US" sz="1250" dirty="0"/>
          </a:p>
        </p:txBody>
      </p:sp>
      <p:sp>
        <p:nvSpPr>
          <p:cNvPr id="13" name="Shape 10"/>
          <p:cNvSpPr/>
          <p:nvPr/>
        </p:nvSpPr>
        <p:spPr>
          <a:xfrm>
            <a:off x="6263640" y="2606040"/>
            <a:ext cx="5349240" cy="1234440"/>
          </a:xfrm>
          <a:prstGeom prst="rect">
            <a:avLst/>
          </a:prstGeom>
          <a:solidFill>
            <a:srgbClr val="F4F6F9"/>
          </a:solidFill>
          <a:ln w="12700">
            <a:solidFill>
              <a:srgbClr val="F4F6F9"/>
            </a:solidFill>
            <a:prstDash val="solid"/>
          </a:ln>
        </p:spPr>
      </p:sp>
      <p:sp>
        <p:nvSpPr>
          <p:cNvPr id="14" name="Text 11"/>
          <p:cNvSpPr/>
          <p:nvPr/>
        </p:nvSpPr>
        <p:spPr>
          <a:xfrm>
            <a:off x="6492240" y="2715768"/>
            <a:ext cx="4892040" cy="320040"/>
          </a:xfrm>
          <a:prstGeom prst="rect">
            <a:avLst/>
          </a:prstGeom>
          <a:noFill/>
          <a:ln/>
        </p:spPr>
        <p:txBody>
          <a:bodyPr wrap="square" rtlCol="0" anchor="ctr"/>
          <a:lstStyle/>
          <a:p>
            <a:pPr marL="0" indent="0">
              <a:buNone/>
            </a:pPr>
            <a:r>
              <a:rPr lang="en-US" sz="1500" b="1" dirty="0">
                <a:solidFill>
                  <a:srgbClr val="1F2A44"/>
                </a:solidFill>
                <a:latin typeface="Calibri" pitchFamily="34" charset="0"/>
                <a:ea typeface="Calibri" pitchFamily="34" charset="-122"/>
                <a:cs typeface="Calibri" pitchFamily="34" charset="-120"/>
              </a:rPr>
              <a:t>Resource Organization</a:t>
            </a:r>
            <a:endParaRPr lang="en-US" sz="1500" dirty="0"/>
          </a:p>
        </p:txBody>
      </p:sp>
      <p:sp>
        <p:nvSpPr>
          <p:cNvPr id="15" name="Text 12"/>
          <p:cNvSpPr/>
          <p:nvPr/>
        </p:nvSpPr>
        <p:spPr>
          <a:xfrm>
            <a:off x="6492240" y="3063240"/>
            <a:ext cx="4892040" cy="731520"/>
          </a:xfrm>
          <a:prstGeom prst="rect">
            <a:avLst/>
          </a:prstGeom>
          <a:noFill/>
          <a:ln/>
        </p:spPr>
        <p:txBody>
          <a:bodyPr wrap="square" rtlCol="0" anchor="t"/>
          <a:lstStyle/>
          <a:p>
            <a:pPr marL="0" indent="0">
              <a:buNone/>
            </a:pPr>
            <a:r>
              <a:rPr lang="en-US" sz="1250" dirty="0">
                <a:solidFill>
                  <a:srgbClr val="222222"/>
                </a:solidFill>
                <a:latin typeface="Calibri" pitchFamily="34" charset="0"/>
                <a:ea typeface="Calibri" pitchFamily="34" charset="-122"/>
                <a:cs typeface="Calibri" pitchFamily="34" charset="-120"/>
              </a:rPr>
              <a:t>Maintain structured and accessible library records.</a:t>
            </a:r>
            <a:endParaRPr lang="en-US" sz="1250" dirty="0"/>
          </a:p>
        </p:txBody>
      </p:sp>
      <p:sp>
        <p:nvSpPr>
          <p:cNvPr id="16" name="Shape 13"/>
          <p:cNvSpPr/>
          <p:nvPr/>
        </p:nvSpPr>
        <p:spPr>
          <a:xfrm>
            <a:off x="548640" y="4023360"/>
            <a:ext cx="5349240" cy="1234440"/>
          </a:xfrm>
          <a:prstGeom prst="rect">
            <a:avLst/>
          </a:prstGeom>
          <a:solidFill>
            <a:srgbClr val="F4F6F9"/>
          </a:solidFill>
          <a:ln w="12700">
            <a:solidFill>
              <a:srgbClr val="F4F6F9"/>
            </a:solidFill>
            <a:prstDash val="solid"/>
          </a:ln>
        </p:spPr>
      </p:sp>
      <p:sp>
        <p:nvSpPr>
          <p:cNvPr id="17" name="Text 14"/>
          <p:cNvSpPr/>
          <p:nvPr/>
        </p:nvSpPr>
        <p:spPr>
          <a:xfrm>
            <a:off x="777240" y="4133088"/>
            <a:ext cx="4892040" cy="320040"/>
          </a:xfrm>
          <a:prstGeom prst="rect">
            <a:avLst/>
          </a:prstGeom>
          <a:noFill/>
          <a:ln/>
        </p:spPr>
        <p:txBody>
          <a:bodyPr wrap="square" rtlCol="0" anchor="ctr"/>
          <a:lstStyle/>
          <a:p>
            <a:pPr marL="0" indent="0">
              <a:buNone/>
            </a:pPr>
            <a:r>
              <a:rPr lang="en-US" sz="1500" b="1" dirty="0">
                <a:solidFill>
                  <a:srgbClr val="1F2A44"/>
                </a:solidFill>
                <a:latin typeface="Calibri" pitchFamily="34" charset="0"/>
                <a:ea typeface="Calibri" pitchFamily="34" charset="-122"/>
                <a:cs typeface="Calibri" pitchFamily="34" charset="-120"/>
              </a:rPr>
              <a:t>User-Friendly Search</a:t>
            </a:r>
            <a:endParaRPr lang="en-US" sz="1500" dirty="0"/>
          </a:p>
        </p:txBody>
      </p:sp>
      <p:sp>
        <p:nvSpPr>
          <p:cNvPr id="18" name="Text 15"/>
          <p:cNvSpPr/>
          <p:nvPr/>
        </p:nvSpPr>
        <p:spPr>
          <a:xfrm>
            <a:off x="777240" y="4480560"/>
            <a:ext cx="4892040" cy="731520"/>
          </a:xfrm>
          <a:prstGeom prst="rect">
            <a:avLst/>
          </a:prstGeom>
          <a:noFill/>
          <a:ln/>
        </p:spPr>
        <p:txBody>
          <a:bodyPr wrap="square" rtlCol="0" anchor="t"/>
          <a:lstStyle/>
          <a:p>
            <a:pPr marL="0" indent="0">
              <a:buNone/>
            </a:pPr>
            <a:r>
              <a:rPr lang="en-US" sz="1250" dirty="0">
                <a:solidFill>
                  <a:srgbClr val="222222"/>
                </a:solidFill>
                <a:latin typeface="Calibri" pitchFamily="34" charset="0"/>
                <a:ea typeface="Calibri" pitchFamily="34" charset="-122"/>
                <a:cs typeface="Calibri" pitchFamily="34" charset="-120"/>
              </a:rPr>
              <a:t>Provide a simple interface for locating required resources.</a:t>
            </a:r>
            <a:endParaRPr lang="en-US" sz="1250" dirty="0"/>
          </a:p>
        </p:txBody>
      </p:sp>
      <p:sp>
        <p:nvSpPr>
          <p:cNvPr id="19" name="Shape 16"/>
          <p:cNvSpPr/>
          <p:nvPr/>
        </p:nvSpPr>
        <p:spPr>
          <a:xfrm>
            <a:off x="6263640" y="4023360"/>
            <a:ext cx="5349240" cy="1234440"/>
          </a:xfrm>
          <a:prstGeom prst="rect">
            <a:avLst/>
          </a:prstGeom>
          <a:solidFill>
            <a:srgbClr val="F4F6F9"/>
          </a:solidFill>
          <a:ln w="12700">
            <a:solidFill>
              <a:srgbClr val="F4F6F9"/>
            </a:solidFill>
            <a:prstDash val="solid"/>
          </a:ln>
        </p:spPr>
      </p:sp>
      <p:sp>
        <p:nvSpPr>
          <p:cNvPr id="20" name="Text 17"/>
          <p:cNvSpPr/>
          <p:nvPr/>
        </p:nvSpPr>
        <p:spPr>
          <a:xfrm>
            <a:off x="6492240" y="4133088"/>
            <a:ext cx="4892040" cy="320040"/>
          </a:xfrm>
          <a:prstGeom prst="rect">
            <a:avLst/>
          </a:prstGeom>
          <a:noFill/>
          <a:ln/>
        </p:spPr>
        <p:txBody>
          <a:bodyPr wrap="square" rtlCol="0" anchor="ctr"/>
          <a:lstStyle/>
          <a:p>
            <a:pPr marL="0" indent="0">
              <a:buNone/>
            </a:pPr>
            <a:r>
              <a:rPr lang="en-US" sz="1500" b="1" dirty="0">
                <a:solidFill>
                  <a:srgbClr val="1F2A44"/>
                </a:solidFill>
                <a:latin typeface="Calibri" pitchFamily="34" charset="0"/>
                <a:ea typeface="Calibri" pitchFamily="34" charset="-122"/>
                <a:cs typeface="Calibri" pitchFamily="34" charset="-120"/>
              </a:rPr>
              <a:t>Future Intelligent Search</a:t>
            </a:r>
            <a:endParaRPr lang="en-US" sz="1500" dirty="0"/>
          </a:p>
        </p:txBody>
      </p:sp>
      <p:sp>
        <p:nvSpPr>
          <p:cNvPr id="21" name="Text 18"/>
          <p:cNvSpPr/>
          <p:nvPr/>
        </p:nvSpPr>
        <p:spPr>
          <a:xfrm>
            <a:off x="6492240" y="4480560"/>
            <a:ext cx="4892040" cy="731520"/>
          </a:xfrm>
          <a:prstGeom prst="rect">
            <a:avLst/>
          </a:prstGeom>
          <a:noFill/>
          <a:ln/>
        </p:spPr>
        <p:txBody>
          <a:bodyPr wrap="square" rtlCol="0" anchor="t"/>
          <a:lstStyle/>
          <a:p>
            <a:pPr marL="0" indent="0">
              <a:buNone/>
            </a:pPr>
            <a:r>
              <a:rPr lang="en-US" sz="1250" dirty="0">
                <a:solidFill>
                  <a:srgbClr val="222222"/>
                </a:solidFill>
                <a:latin typeface="Calibri" pitchFamily="34" charset="0"/>
                <a:ea typeface="Calibri" pitchFamily="34" charset="-122"/>
                <a:cs typeface="Calibri" pitchFamily="34" charset="-120"/>
              </a:rPr>
              <a:t>Extend the system later with improved search relevance and intelligent search features.</a:t>
            </a:r>
            <a:endParaRPr lang="en-US" sz="1250" dirty="0"/>
          </a:p>
        </p:txBody>
      </p:sp>
      <p:sp>
        <p:nvSpPr>
          <p:cNvPr id="22" name="Text 19"/>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Digital Library Search System  |  DSA-3</a:t>
            </a:r>
            <a:endParaRPr lang="en-US" sz="1000" dirty="0"/>
          </a:p>
        </p:txBody>
      </p:sp>
      <p:sp>
        <p:nvSpPr>
          <p:cNvPr id="23" name="Text 20"/>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88888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klh_logo.jpeg"/>
          <p:cNvPicPr>
            <a:picLocks noChangeAspect="1"/>
          </p:cNvPicPr>
          <p:nvPr/>
        </p:nvPicPr>
        <p:blipFill>
          <a:blip r:embed="rId3"/>
          <a:stretch>
            <a:fillRect/>
          </a:stretch>
        </p:blipFill>
        <p:spPr>
          <a:xfrm>
            <a:off x="10835640" y="274320"/>
            <a:ext cx="1005840" cy="438912"/>
          </a:xfrm>
          <a:prstGeom prst="rect">
            <a:avLst/>
          </a:prstGeom>
        </p:spPr>
      </p:pic>
      <p:sp>
        <p:nvSpPr>
          <p:cNvPr id="3" name="Text 0"/>
          <p:cNvSpPr/>
          <p:nvPr/>
        </p:nvSpPr>
        <p:spPr>
          <a:xfrm>
            <a:off x="548640" y="365760"/>
            <a:ext cx="9601200" cy="64008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Tools and Technologies to be Used</a:t>
            </a:r>
            <a:endParaRPr lang="en-US" sz="3000" dirty="0"/>
          </a:p>
        </p:txBody>
      </p:sp>
      <p:sp>
        <p:nvSpPr>
          <p:cNvPr id="4" name="Text 1"/>
          <p:cNvSpPr/>
          <p:nvPr/>
        </p:nvSpPr>
        <p:spPr>
          <a:xfrm>
            <a:off x="640080" y="1188720"/>
            <a:ext cx="3840480" cy="457200"/>
          </a:xfrm>
          <a:prstGeom prst="rect">
            <a:avLst/>
          </a:prstGeom>
          <a:noFill/>
          <a:ln/>
        </p:spPr>
        <p:txBody>
          <a:bodyPr wrap="square" rtlCol="0" anchor="t"/>
          <a:lstStyle/>
          <a:p>
            <a:pPr marL="0" indent="0">
              <a:buNone/>
            </a:pPr>
            <a:r>
              <a:rPr lang="en-US" sz="1450" b="1" dirty="0">
                <a:solidFill>
                  <a:srgbClr val="1F2A44"/>
                </a:solidFill>
                <a:latin typeface="Calibri" pitchFamily="34" charset="0"/>
                <a:ea typeface="Calibri" pitchFamily="34" charset="-122"/>
                <a:cs typeface="Calibri" pitchFamily="34" charset="-120"/>
              </a:rPr>
              <a:t>Programming Language</a:t>
            </a:r>
            <a:endParaRPr lang="en-US" sz="1450" dirty="0"/>
          </a:p>
        </p:txBody>
      </p:sp>
      <p:sp>
        <p:nvSpPr>
          <p:cNvPr id="5" name="Text 2"/>
          <p:cNvSpPr/>
          <p:nvPr/>
        </p:nvSpPr>
        <p:spPr>
          <a:xfrm>
            <a:off x="4572000" y="1188720"/>
            <a:ext cx="6858000" cy="457200"/>
          </a:xfrm>
          <a:prstGeom prst="rect">
            <a:avLst/>
          </a:prstGeom>
          <a:noFill/>
          <a:ln/>
        </p:spPr>
        <p:txBody>
          <a:bodyPr wrap="square" rtlCol="0" anchor="t"/>
          <a:lstStyle/>
          <a:p>
            <a:pPr marL="0" indent="0">
              <a:buNone/>
            </a:pPr>
            <a:r>
              <a:rPr lang="en-US" sz="1450" dirty="0">
                <a:solidFill>
                  <a:srgbClr val="222222"/>
                </a:solidFill>
                <a:latin typeface="Calibri" pitchFamily="34" charset="0"/>
                <a:ea typeface="Calibri" pitchFamily="34" charset="-122"/>
                <a:cs typeface="Calibri" pitchFamily="34" charset="-120"/>
              </a:rPr>
              <a:t>Java</a:t>
            </a:r>
            <a:endParaRPr lang="en-US" sz="1450" dirty="0"/>
          </a:p>
        </p:txBody>
      </p:sp>
      <p:sp>
        <p:nvSpPr>
          <p:cNvPr id="6" name="Text 3"/>
          <p:cNvSpPr/>
          <p:nvPr/>
        </p:nvSpPr>
        <p:spPr>
          <a:xfrm>
            <a:off x="640080" y="1810512"/>
            <a:ext cx="3840480" cy="457200"/>
          </a:xfrm>
          <a:prstGeom prst="rect">
            <a:avLst/>
          </a:prstGeom>
          <a:noFill/>
          <a:ln/>
        </p:spPr>
        <p:txBody>
          <a:bodyPr wrap="square" rtlCol="0" anchor="t"/>
          <a:lstStyle/>
          <a:p>
            <a:pPr marL="0" indent="0">
              <a:buNone/>
            </a:pPr>
            <a:r>
              <a:rPr lang="en-US" sz="1450" b="1" dirty="0">
                <a:solidFill>
                  <a:srgbClr val="1F2A44"/>
                </a:solidFill>
                <a:latin typeface="Calibri" pitchFamily="34" charset="0"/>
                <a:ea typeface="Calibri" pitchFamily="34" charset="-122"/>
                <a:cs typeface="Calibri" pitchFamily="34" charset="-120"/>
              </a:rPr>
              <a:t>Data Structures / DSA</a:t>
            </a:r>
            <a:endParaRPr lang="en-US" sz="1450" dirty="0"/>
          </a:p>
        </p:txBody>
      </p:sp>
      <p:sp>
        <p:nvSpPr>
          <p:cNvPr id="7" name="Text 4"/>
          <p:cNvSpPr/>
          <p:nvPr/>
        </p:nvSpPr>
        <p:spPr>
          <a:xfrm>
            <a:off x="4572000" y="1810512"/>
            <a:ext cx="6858000" cy="457200"/>
          </a:xfrm>
          <a:prstGeom prst="rect">
            <a:avLst/>
          </a:prstGeom>
          <a:noFill/>
          <a:ln/>
        </p:spPr>
        <p:txBody>
          <a:bodyPr wrap="square" rtlCol="0" anchor="t"/>
          <a:lstStyle/>
          <a:p>
            <a:pPr marL="0" indent="0">
              <a:buNone/>
            </a:pPr>
            <a:r>
              <a:rPr lang="en-US" sz="1450" dirty="0">
                <a:solidFill>
                  <a:srgbClr val="222222"/>
                </a:solidFill>
                <a:latin typeface="Calibri" pitchFamily="34" charset="0"/>
                <a:ea typeface="Calibri" pitchFamily="34" charset="-122"/>
                <a:cs typeface="Calibri" pitchFamily="34" charset="-120"/>
              </a:rPr>
              <a:t>Arrays, linked structures, hashing concepts, searching and sorting techniques</a:t>
            </a:r>
            <a:endParaRPr lang="en-US" sz="1450" dirty="0"/>
          </a:p>
        </p:txBody>
      </p:sp>
      <p:sp>
        <p:nvSpPr>
          <p:cNvPr id="8" name="Text 5"/>
          <p:cNvSpPr/>
          <p:nvPr/>
        </p:nvSpPr>
        <p:spPr>
          <a:xfrm>
            <a:off x="640080" y="2432304"/>
            <a:ext cx="3840480" cy="457200"/>
          </a:xfrm>
          <a:prstGeom prst="rect">
            <a:avLst/>
          </a:prstGeom>
          <a:noFill/>
          <a:ln/>
        </p:spPr>
        <p:txBody>
          <a:bodyPr wrap="square" rtlCol="0" anchor="t"/>
          <a:lstStyle/>
          <a:p>
            <a:pPr marL="0" indent="0">
              <a:buNone/>
            </a:pPr>
            <a:r>
              <a:rPr lang="en-US" sz="1450" b="1" dirty="0">
                <a:solidFill>
                  <a:srgbClr val="1F2A44"/>
                </a:solidFill>
                <a:latin typeface="Calibri" pitchFamily="34" charset="0"/>
                <a:ea typeface="Calibri" pitchFamily="34" charset="-122"/>
                <a:cs typeface="Calibri" pitchFamily="34" charset="-120"/>
              </a:rPr>
              <a:t>Database</a:t>
            </a:r>
            <a:endParaRPr lang="en-US" sz="1450" dirty="0"/>
          </a:p>
        </p:txBody>
      </p:sp>
      <p:sp>
        <p:nvSpPr>
          <p:cNvPr id="9" name="Text 6"/>
          <p:cNvSpPr/>
          <p:nvPr/>
        </p:nvSpPr>
        <p:spPr>
          <a:xfrm>
            <a:off x="4572000" y="2432304"/>
            <a:ext cx="6858000" cy="457200"/>
          </a:xfrm>
          <a:prstGeom prst="rect">
            <a:avLst/>
          </a:prstGeom>
          <a:noFill/>
          <a:ln/>
        </p:spPr>
        <p:txBody>
          <a:bodyPr wrap="square" rtlCol="0" anchor="t"/>
          <a:lstStyle/>
          <a:p>
            <a:pPr marL="0" indent="0">
              <a:buNone/>
            </a:pPr>
            <a:r>
              <a:rPr lang="en-US" sz="1450" dirty="0">
                <a:solidFill>
                  <a:srgbClr val="222222"/>
                </a:solidFill>
                <a:latin typeface="Calibri" pitchFamily="34" charset="0"/>
                <a:ea typeface="Calibri" pitchFamily="34" charset="-122"/>
                <a:cs typeface="Calibri" pitchFamily="34" charset="-120"/>
              </a:rPr>
              <a:t>MySQL</a:t>
            </a:r>
            <a:endParaRPr lang="en-US" sz="1450" dirty="0"/>
          </a:p>
        </p:txBody>
      </p:sp>
      <p:sp>
        <p:nvSpPr>
          <p:cNvPr id="10" name="Text 7"/>
          <p:cNvSpPr/>
          <p:nvPr/>
        </p:nvSpPr>
        <p:spPr>
          <a:xfrm>
            <a:off x="640080" y="3054096"/>
            <a:ext cx="3840480" cy="457200"/>
          </a:xfrm>
          <a:prstGeom prst="rect">
            <a:avLst/>
          </a:prstGeom>
          <a:noFill/>
          <a:ln/>
        </p:spPr>
        <p:txBody>
          <a:bodyPr wrap="square" rtlCol="0" anchor="t"/>
          <a:lstStyle/>
          <a:p>
            <a:pPr marL="0" indent="0">
              <a:buNone/>
            </a:pPr>
            <a:r>
              <a:rPr lang="en-US" sz="1450" b="1" dirty="0">
                <a:solidFill>
                  <a:srgbClr val="1F2A44"/>
                </a:solidFill>
                <a:latin typeface="Calibri" pitchFamily="34" charset="0"/>
                <a:ea typeface="Calibri" pitchFamily="34" charset="-122"/>
                <a:cs typeface="Calibri" pitchFamily="34" charset="-120"/>
              </a:rPr>
              <a:t>Database Connectivity</a:t>
            </a:r>
            <a:endParaRPr lang="en-US" sz="1450" dirty="0"/>
          </a:p>
        </p:txBody>
      </p:sp>
      <p:sp>
        <p:nvSpPr>
          <p:cNvPr id="11" name="Text 8"/>
          <p:cNvSpPr/>
          <p:nvPr/>
        </p:nvSpPr>
        <p:spPr>
          <a:xfrm>
            <a:off x="4572000" y="3054096"/>
            <a:ext cx="6858000" cy="457200"/>
          </a:xfrm>
          <a:prstGeom prst="rect">
            <a:avLst/>
          </a:prstGeom>
          <a:noFill/>
          <a:ln/>
        </p:spPr>
        <p:txBody>
          <a:bodyPr wrap="square" rtlCol="0" anchor="t"/>
          <a:lstStyle/>
          <a:p>
            <a:pPr marL="0" indent="0">
              <a:buNone/>
            </a:pPr>
            <a:r>
              <a:rPr lang="en-US" sz="1450" dirty="0">
                <a:solidFill>
                  <a:srgbClr val="222222"/>
                </a:solidFill>
                <a:latin typeface="Calibri" pitchFamily="34" charset="0"/>
                <a:ea typeface="Calibri" pitchFamily="34" charset="-122"/>
                <a:cs typeface="Calibri" pitchFamily="34" charset="-120"/>
              </a:rPr>
              <a:t>JDBC</a:t>
            </a:r>
            <a:endParaRPr lang="en-US" sz="1450" dirty="0"/>
          </a:p>
        </p:txBody>
      </p:sp>
      <p:sp>
        <p:nvSpPr>
          <p:cNvPr id="12" name="Text 9"/>
          <p:cNvSpPr/>
          <p:nvPr/>
        </p:nvSpPr>
        <p:spPr>
          <a:xfrm>
            <a:off x="640080" y="3675888"/>
            <a:ext cx="3840480" cy="457200"/>
          </a:xfrm>
          <a:prstGeom prst="rect">
            <a:avLst/>
          </a:prstGeom>
          <a:noFill/>
          <a:ln/>
        </p:spPr>
        <p:txBody>
          <a:bodyPr wrap="square" rtlCol="0" anchor="t"/>
          <a:lstStyle/>
          <a:p>
            <a:pPr marL="0" indent="0">
              <a:buNone/>
            </a:pPr>
            <a:r>
              <a:rPr lang="en-US" sz="1450" b="1" dirty="0">
                <a:solidFill>
                  <a:srgbClr val="1F2A44"/>
                </a:solidFill>
                <a:latin typeface="Calibri" pitchFamily="34" charset="0"/>
                <a:ea typeface="Calibri" pitchFamily="34" charset="-122"/>
                <a:cs typeface="Calibri" pitchFamily="34" charset="-120"/>
              </a:rPr>
              <a:t>Development Environment</a:t>
            </a:r>
            <a:endParaRPr lang="en-US" sz="1450" dirty="0"/>
          </a:p>
        </p:txBody>
      </p:sp>
      <p:sp>
        <p:nvSpPr>
          <p:cNvPr id="13" name="Text 10"/>
          <p:cNvSpPr/>
          <p:nvPr/>
        </p:nvSpPr>
        <p:spPr>
          <a:xfrm>
            <a:off x="4572000" y="3675888"/>
            <a:ext cx="6858000" cy="457200"/>
          </a:xfrm>
          <a:prstGeom prst="rect">
            <a:avLst/>
          </a:prstGeom>
          <a:noFill/>
          <a:ln/>
        </p:spPr>
        <p:txBody>
          <a:bodyPr wrap="square" rtlCol="0" anchor="t"/>
          <a:lstStyle/>
          <a:p>
            <a:pPr marL="0" indent="0">
              <a:buNone/>
            </a:pPr>
            <a:r>
              <a:rPr lang="en-US" sz="1450" dirty="0">
                <a:solidFill>
                  <a:srgbClr val="222222"/>
                </a:solidFill>
                <a:latin typeface="Calibri" pitchFamily="34" charset="0"/>
                <a:ea typeface="Calibri" pitchFamily="34" charset="-122"/>
                <a:cs typeface="Calibri" pitchFamily="34" charset="-120"/>
              </a:rPr>
              <a:t>VS Code / IntelliJ IDEA / Eclipse</a:t>
            </a:r>
            <a:endParaRPr lang="en-US" sz="1450" dirty="0"/>
          </a:p>
        </p:txBody>
      </p:sp>
      <p:sp>
        <p:nvSpPr>
          <p:cNvPr id="14" name="Text 11"/>
          <p:cNvSpPr/>
          <p:nvPr/>
        </p:nvSpPr>
        <p:spPr>
          <a:xfrm>
            <a:off x="640080" y="4297680"/>
            <a:ext cx="3840480" cy="457200"/>
          </a:xfrm>
          <a:prstGeom prst="rect">
            <a:avLst/>
          </a:prstGeom>
          <a:noFill/>
          <a:ln/>
        </p:spPr>
        <p:txBody>
          <a:bodyPr wrap="square" rtlCol="0" anchor="t"/>
          <a:lstStyle/>
          <a:p>
            <a:pPr marL="0" indent="0">
              <a:buNone/>
            </a:pPr>
            <a:r>
              <a:rPr lang="en-US" sz="1450" b="1" dirty="0">
                <a:solidFill>
                  <a:srgbClr val="1F2A44"/>
                </a:solidFill>
                <a:latin typeface="Calibri" pitchFamily="34" charset="0"/>
                <a:ea typeface="Calibri" pitchFamily="34" charset="-122"/>
                <a:cs typeface="Calibri" pitchFamily="34" charset="-120"/>
              </a:rPr>
              <a:t>Database Tool</a:t>
            </a:r>
            <a:endParaRPr lang="en-US" sz="1450" dirty="0"/>
          </a:p>
        </p:txBody>
      </p:sp>
      <p:sp>
        <p:nvSpPr>
          <p:cNvPr id="15" name="Text 12"/>
          <p:cNvSpPr/>
          <p:nvPr/>
        </p:nvSpPr>
        <p:spPr>
          <a:xfrm>
            <a:off x="4572000" y="4297680"/>
            <a:ext cx="6858000" cy="457200"/>
          </a:xfrm>
          <a:prstGeom prst="rect">
            <a:avLst/>
          </a:prstGeom>
          <a:noFill/>
          <a:ln/>
        </p:spPr>
        <p:txBody>
          <a:bodyPr wrap="square" rtlCol="0" anchor="t"/>
          <a:lstStyle/>
          <a:p>
            <a:pPr marL="0" indent="0">
              <a:buNone/>
            </a:pPr>
            <a:r>
              <a:rPr lang="en-US" sz="1450" dirty="0">
                <a:solidFill>
                  <a:srgbClr val="222222"/>
                </a:solidFill>
                <a:latin typeface="Calibri" pitchFamily="34" charset="0"/>
                <a:ea typeface="Calibri" pitchFamily="34" charset="-122"/>
                <a:cs typeface="Calibri" pitchFamily="34" charset="-120"/>
              </a:rPr>
              <a:t>MySQL Workbench</a:t>
            </a:r>
            <a:endParaRPr lang="en-US" sz="1450" dirty="0"/>
          </a:p>
        </p:txBody>
      </p:sp>
      <p:sp>
        <p:nvSpPr>
          <p:cNvPr id="16" name="Text 13"/>
          <p:cNvSpPr/>
          <p:nvPr/>
        </p:nvSpPr>
        <p:spPr>
          <a:xfrm>
            <a:off x="640080" y="4919472"/>
            <a:ext cx="3840480" cy="457200"/>
          </a:xfrm>
          <a:prstGeom prst="rect">
            <a:avLst/>
          </a:prstGeom>
          <a:noFill/>
          <a:ln/>
        </p:spPr>
        <p:txBody>
          <a:bodyPr wrap="square" rtlCol="0" anchor="t"/>
          <a:lstStyle/>
          <a:p>
            <a:pPr marL="0" indent="0">
              <a:buNone/>
            </a:pPr>
            <a:r>
              <a:rPr lang="en-US" sz="1450" b="1" dirty="0">
                <a:solidFill>
                  <a:srgbClr val="1F2A44"/>
                </a:solidFill>
                <a:latin typeface="Calibri" pitchFamily="34" charset="0"/>
                <a:ea typeface="Calibri" pitchFamily="34" charset="-122"/>
                <a:cs typeface="Calibri" pitchFamily="34" charset="-120"/>
              </a:rPr>
              <a:t>Version Control</a:t>
            </a:r>
            <a:endParaRPr lang="en-US" sz="1450" dirty="0"/>
          </a:p>
        </p:txBody>
      </p:sp>
      <p:sp>
        <p:nvSpPr>
          <p:cNvPr id="17" name="Text 14"/>
          <p:cNvSpPr/>
          <p:nvPr/>
        </p:nvSpPr>
        <p:spPr>
          <a:xfrm>
            <a:off x="4572000" y="4919472"/>
            <a:ext cx="6858000" cy="457200"/>
          </a:xfrm>
          <a:prstGeom prst="rect">
            <a:avLst/>
          </a:prstGeom>
          <a:noFill/>
          <a:ln/>
        </p:spPr>
        <p:txBody>
          <a:bodyPr wrap="square" rtlCol="0" anchor="t"/>
          <a:lstStyle/>
          <a:p>
            <a:pPr marL="0" indent="0">
              <a:buNone/>
            </a:pPr>
            <a:r>
              <a:rPr lang="en-US" sz="1450" dirty="0">
                <a:solidFill>
                  <a:srgbClr val="222222"/>
                </a:solidFill>
                <a:latin typeface="Calibri" pitchFamily="34" charset="0"/>
                <a:ea typeface="Calibri" pitchFamily="34" charset="-122"/>
                <a:cs typeface="Calibri" pitchFamily="34" charset="-120"/>
              </a:rPr>
              <a:t>Git and GitHub</a:t>
            </a:r>
            <a:endParaRPr lang="en-US" sz="1450" dirty="0"/>
          </a:p>
        </p:txBody>
      </p:sp>
      <p:sp>
        <p:nvSpPr>
          <p:cNvPr id="18" name="Text 15"/>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Digital Library Search System  |  DSA-3</a:t>
            </a:r>
            <a:endParaRPr lang="en-US" sz="1000" dirty="0"/>
          </a:p>
        </p:txBody>
      </p:sp>
      <p:sp>
        <p:nvSpPr>
          <p:cNvPr id="19" name="Text 16"/>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88888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klh_logo.jpeg"/>
          <p:cNvPicPr>
            <a:picLocks noChangeAspect="1"/>
          </p:cNvPicPr>
          <p:nvPr/>
        </p:nvPicPr>
        <p:blipFill>
          <a:blip r:embed="rId3"/>
          <a:stretch>
            <a:fillRect/>
          </a:stretch>
        </p:blipFill>
        <p:spPr>
          <a:xfrm>
            <a:off x="10835640" y="274320"/>
            <a:ext cx="1005840" cy="438912"/>
          </a:xfrm>
          <a:prstGeom prst="rect">
            <a:avLst/>
          </a:prstGeom>
        </p:spPr>
      </p:pic>
      <p:sp>
        <p:nvSpPr>
          <p:cNvPr id="3" name="Text 0"/>
          <p:cNvSpPr/>
          <p:nvPr/>
        </p:nvSpPr>
        <p:spPr>
          <a:xfrm>
            <a:off x="548640" y="365760"/>
            <a:ext cx="9601200" cy="64008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Expected Outcome</a:t>
            </a:r>
            <a:endParaRPr lang="en-US" sz="3000" dirty="0"/>
          </a:p>
        </p:txBody>
      </p:sp>
      <p:sp>
        <p:nvSpPr>
          <p:cNvPr id="4" name="Text 1"/>
          <p:cNvSpPr/>
          <p:nvPr/>
        </p:nvSpPr>
        <p:spPr>
          <a:xfrm>
            <a:off x="548640" y="1143000"/>
            <a:ext cx="11064240" cy="822960"/>
          </a:xfrm>
          <a:prstGeom prst="rect">
            <a:avLst/>
          </a:prstGeom>
          <a:noFill/>
          <a:ln/>
        </p:spPr>
        <p:txBody>
          <a:bodyPr wrap="square" rtlCol="0" anchor="t"/>
          <a:lstStyle/>
          <a:p>
            <a:pPr marL="0" indent="0">
              <a:buNone/>
            </a:pPr>
            <a:r>
              <a:rPr lang="en-US" sz="1600" dirty="0">
                <a:solidFill>
                  <a:srgbClr val="222222"/>
                </a:solidFill>
                <a:latin typeface="Calibri" pitchFamily="34" charset="0"/>
                <a:ea typeface="Calibri" pitchFamily="34" charset="-122"/>
                <a:cs typeface="Calibri" pitchFamily="34" charset="-120"/>
              </a:rPr>
              <a:t>The completed Digital Library Search System is expected to provide an organized and efficient way to store, search, and retrieve digital library resources.</a:t>
            </a:r>
            <a:endParaRPr lang="en-US" sz="1600" dirty="0"/>
          </a:p>
        </p:txBody>
      </p:sp>
      <p:sp>
        <p:nvSpPr>
          <p:cNvPr id="5" name="Text 2"/>
          <p:cNvSpPr/>
          <p:nvPr/>
        </p:nvSpPr>
        <p:spPr>
          <a:xfrm>
            <a:off x="822960" y="2103120"/>
            <a:ext cx="10607040" cy="2834640"/>
          </a:xfrm>
          <a:prstGeom prst="rect">
            <a:avLst/>
          </a:prstGeom>
          <a:noFill/>
          <a:ln/>
        </p:spPr>
        <p:txBody>
          <a:bodyPr wrap="square" rtlCol="0" anchor="t"/>
          <a:lstStyle/>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Reduce the time required to locate library resources</a:t>
            </a:r>
            <a:endParaRPr lang="en-US" sz="1500" dirty="0"/>
          </a:p>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Enable search through title, author, ISBN, category, and keywords</a:t>
            </a:r>
            <a:endParaRPr lang="en-US" sz="1500" dirty="0"/>
          </a:p>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Improve the speed and accuracy of resource retrieval</a:t>
            </a:r>
            <a:endParaRPr lang="en-US" sz="1500" dirty="0"/>
          </a:p>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Maintain an organized centralized repository of digital resources</a:t>
            </a:r>
            <a:endParaRPr lang="en-US" sz="1500" dirty="0"/>
          </a:p>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Demonstrate the practical use of Data Structures and Algorithms in an information retrieval application</a:t>
            </a:r>
            <a:endParaRPr lang="en-US" sz="1500" dirty="0"/>
          </a:p>
          <a:p>
            <a:pPr marL="228600" indent="-2286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Provide a foundation for future intelligent search features similar to modern digital libraries</a:t>
            </a:r>
            <a:endParaRPr lang="en-US" sz="1500" dirty="0"/>
          </a:p>
        </p:txBody>
      </p:sp>
      <p:sp>
        <p:nvSpPr>
          <p:cNvPr id="6" name="Shape 3"/>
          <p:cNvSpPr/>
          <p:nvPr/>
        </p:nvSpPr>
        <p:spPr>
          <a:xfrm>
            <a:off x="548640" y="5212080"/>
            <a:ext cx="11064240" cy="868680"/>
          </a:xfrm>
          <a:prstGeom prst="rect">
            <a:avLst/>
          </a:prstGeom>
          <a:solidFill>
            <a:srgbClr val="F4F6F9"/>
          </a:solidFill>
          <a:ln w="12700">
            <a:solidFill>
              <a:srgbClr val="F4F6F9"/>
            </a:solidFill>
            <a:prstDash val="solid"/>
          </a:ln>
        </p:spPr>
      </p:sp>
      <p:sp>
        <p:nvSpPr>
          <p:cNvPr id="7" name="Text 4"/>
          <p:cNvSpPr/>
          <p:nvPr/>
        </p:nvSpPr>
        <p:spPr>
          <a:xfrm>
            <a:off x="777240" y="5349240"/>
            <a:ext cx="10607040" cy="594360"/>
          </a:xfrm>
          <a:prstGeom prst="rect">
            <a:avLst/>
          </a:prstGeom>
          <a:noFill/>
          <a:ln/>
        </p:spPr>
        <p:txBody>
          <a:bodyPr wrap="square" rtlCol="0" anchor="t"/>
          <a:lstStyle/>
          <a:p>
            <a:pPr marL="0" indent="0">
              <a:buNone/>
            </a:pPr>
            <a:r>
              <a:rPr lang="en-US" sz="1500" b="1" dirty="0">
                <a:solidFill>
                  <a:srgbClr val="8B1E1E"/>
                </a:solidFill>
                <a:latin typeface="Calibri" pitchFamily="34" charset="0"/>
                <a:ea typeface="Calibri" pitchFamily="34" charset="-122"/>
                <a:cs typeface="Calibri" pitchFamily="34" charset="-120"/>
              </a:rPr>
              <a:t>Final Goal:  </a:t>
            </a:r>
            <a:r>
              <a:rPr lang="en-US" sz="1500" dirty="0">
                <a:solidFill>
                  <a:srgbClr val="222222"/>
                </a:solidFill>
                <a:latin typeface="Calibri" pitchFamily="34" charset="0"/>
                <a:ea typeface="Calibri" pitchFamily="34" charset="-122"/>
                <a:cs typeface="Calibri" pitchFamily="34" charset="-120"/>
              </a:rPr>
              <a:t>A scalable, efficient, and user-friendly digital library search solution.</a:t>
            </a:r>
            <a:endParaRPr lang="en-US" sz="1500" dirty="0"/>
          </a:p>
        </p:txBody>
      </p:sp>
      <p:sp>
        <p:nvSpPr>
          <p:cNvPr id="8" name="Text 5"/>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Digital Library Search System  |  DSA-3</a:t>
            </a:r>
            <a:endParaRPr lang="en-US" sz="1000" dirty="0"/>
          </a:p>
        </p:txBody>
      </p:sp>
      <p:sp>
        <p:nvSpPr>
          <p:cNvPr id="9" name="Text 6"/>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88888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551</Words>
  <Application>Microsoft Office PowerPoint</Application>
  <PresentationFormat>Widescreen</PresentationFormat>
  <Paragraphs>74</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TEJ PRATAP SINGH</cp:lastModifiedBy>
  <cp:revision>1</cp:revision>
  <dcterms:created xsi:type="dcterms:W3CDTF">2026-08-05T05:45:30Z</dcterms:created>
  <dcterms:modified xsi:type="dcterms:W3CDTF">2026-08-05T05:47:08Z</dcterms:modified>
</cp:coreProperties>
</file>